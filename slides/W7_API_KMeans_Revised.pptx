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7772400" cy="128016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Three product APIs become one
reproducible K-means lesson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743200"/>
            <a:ext cx="7772400" cy="36576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l"/>
            <a:r>
              <a:rPr sz="1800" b="0">
                <a:solidFill>
                  <a:srgbClr val="C8DCF0"/>
                </a:solidFill>
                <a:latin typeface="Arial"/>
              </a:rPr>
              <a:t>Internet Programming · price + inventory clustering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337560"/>
            <a:ext cx="7772400" cy="64008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Three cloud APIs → validation → StandardScaler → K-means →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The lesson asks whether API records can be clustered by price and inventory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813816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  <a:latin typeface="Arial"/>
              </a:defRPr>
            </a:pPr>
            <a:r>
              <a:t>• Collect products from one existing TA API and two simulated-group APIs running on the cloud.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  <a:latin typeface="Arial"/>
              </a:defRPr>
            </a:pPr>
            <a:r>
              <a:t>• Every source provides price and stock directly through HTTP.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  <a:latin typeface="Arial"/>
              </a:defRPr>
            </a:pPr>
            <a:r>
              <a:t>• Use machine learning to learn memberships; grouping is not a query or category rule.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  <a:latin typeface="Arial"/>
              </a:defRPr>
            </a:pPr>
            <a:r>
              <a:t>• Explain what the clusters can and cannot mean with only a small snapshot.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Three public cloud endpoints feed one reproducible local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813816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2423160" cy="68580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44168"/>
            <a:ext cx="2194560" cy="22860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Arial"/>
              </a:rPr>
              <a:t>std6730202734 (TA)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18488"/>
            <a:ext cx="2194560" cy="18288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Arial"/>
              </a:rPr>
              <a:t>Cloud HTTP :3067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417320"/>
            <a:ext cx="411480" cy="32004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ctr"/>
            <a:r>
              <a:rPr sz="2800" b="1">
                <a:solidFill>
                  <a:srgbClr val="2E75B6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2423160" cy="68580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304288"/>
            <a:ext cx="2194560" cy="22860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Arial"/>
              </a:rPr>
              <a:t>demo-shop-b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78608"/>
            <a:ext cx="2194560" cy="18288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Arial"/>
              </a:rPr>
              <a:t>Cloud HTTP :3120 · synthetic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377440"/>
            <a:ext cx="411480" cy="32004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ctr"/>
            <a:r>
              <a:rPr sz="2800" b="1">
                <a:solidFill>
                  <a:srgbClr val="2E75B6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54680"/>
            <a:ext cx="2423160" cy="68580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264408"/>
            <a:ext cx="2194560" cy="22860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Arial"/>
              </a:rPr>
              <a:t>demo-shop-c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538728"/>
            <a:ext cx="2194560" cy="18288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Arial"/>
              </a:rPr>
              <a:t>Cloud HTTP :3121 · synthetic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337560"/>
            <a:ext cx="411480" cy="32004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ctr"/>
            <a:r>
              <a:rPr sz="2800" b="1">
                <a:solidFill>
                  <a:srgbClr val="2E75B6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39" y="1600200"/>
            <a:ext cx="2148840" cy="182880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6200" y="1920240"/>
            <a:ext cx="1874519" cy="548640"/>
          </a:xfrm>
          <a:prstGeom prst="rect">
            <a:avLst/>
          </a:prstGeom>
          <a:noFill/>
        </p:spPr>
        <p:txBody>
          <a:bodyPr wrap="square" lIns="36576" rIns="36576" tIns="27432" anchor="ctr">
            <a:spAutoFit/>
          </a:bodyPr>
          <a:lstStyle/>
          <a:p>
            <a:pPr algn="ctr"/>
            <a:r>
              <a:rPr sz="2300" b="1">
                <a:solidFill>
                  <a:srgbClr val="1F4E79"/>
                </a:solidFill>
                <a:latin typeface="Arial"/>
              </a:rPr>
              <a:t>Local
aggregator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606040"/>
            <a:ext cx="1783080" cy="45720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ctr"/>
            <a:r>
              <a:rPr sz="1600" b="0">
                <a:solidFill>
                  <a:srgbClr val="2D2D2D"/>
                </a:solidFill>
                <a:latin typeface="Arial"/>
              </a:rPr>
              <a:t>fetch · validate
normalize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240280"/>
            <a:ext cx="411480" cy="32004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ctr"/>
            <a:r>
              <a:rPr sz="2800" b="1">
                <a:solidFill>
                  <a:srgbClr val="2E75B6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1600200"/>
            <a:ext cx="1920240" cy="182880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1965960"/>
            <a:ext cx="1645920" cy="59436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  <a:latin typeface="Arial"/>
              </a:rPr>
              <a:t>Snapshot
+ K-means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743200"/>
            <a:ext cx="1554480" cy="27432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ctr"/>
            <a:r>
              <a:rPr sz="1500" b="0">
                <a:solidFill>
                  <a:srgbClr val="2D2D2D"/>
                </a:solidFill>
                <a:latin typeface="Arial"/>
              </a:rPr>
              <a:t>CSV · JSON · plots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343400"/>
            <a:ext cx="7955279" cy="32004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l"/>
            <a:r>
              <a:rPr sz="1500" b="0">
                <a:solidFill>
                  <a:srgbClr val="6E6E6E"/>
                </a:solidFill>
                <a:latin typeface="Arial"/>
              </a:rPr>
              <a:t>The teaching run needs no root login or SSH tunnel; it performs ordinary HTTP GET requests.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A shared API shape makes aggregation clear while preserving source identity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813816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234440"/>
          <a:ext cx="795527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8819"/>
                <a:gridCol w="1988819"/>
                <a:gridCol w="1988819"/>
                <a:gridCol w="1988822"/>
              </a:tblGrid>
              <a:tr h="50292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Source</a:t>
                      </a:r>
                    </a:p>
                  </a:txBody>
                  <a:tcPr marL="45720" marR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Response shape</a:t>
                      </a:r>
                    </a:p>
                  </a:txBody>
                  <a:tcPr marL="45720" marR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Rows</a:t>
                      </a:r>
                    </a:p>
                  </a:txBody>
                  <a:tcPr marL="45720" marR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Data origin</a:t>
                      </a:r>
                    </a:p>
                  </a:txBody>
                  <a:tcPr marL="45720" marR="45720"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std6730202734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{data, meta}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existing TA API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demo-shop-b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{source_id, data, meta}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synthetic classroom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demo-shop-c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{source_id, data, meta}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synthetic classroom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3611880"/>
            <a:ext cx="7589520" cy="77724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767328"/>
            <a:ext cx="7223760" cy="256032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  <a:latin typeface="Arial"/>
              </a:rPr>
              <a:t>Canonical key = source_id + ':' + source_product_id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72000"/>
            <a:ext cx="7498079" cy="27432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ctr"/>
            <a:r>
              <a:rPr sz="1700" b="0">
                <a:solidFill>
                  <a:srgbClr val="2D2D2D"/>
                </a:solidFill>
                <a:latin typeface="Arial"/>
              </a:rPr>
              <a:t>A product with the same local ID in two stores stays as two records.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Every training value comes from an API response with visible provenance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813816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80467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4191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45720" marR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Used by model</a:t>
                      </a:r>
                    </a:p>
                  </a:txBody>
                  <a:tcPr marL="45720" marR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Rule</a:t>
                      </a:r>
                    </a:p>
                  </a:txBody>
                  <a:tcPr marL="45720" marR="45720">
                    <a:solidFill>
                      <a:srgbClr val="1F4E7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price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THB selling price per unit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stock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current inventory units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source_id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provenance and plot marker only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category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display only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price_is_synthetic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honest classroom-data label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3977639"/>
            <a:ext cx="7269480" cy="68580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4160520"/>
            <a:ext cx="6995160" cy="27432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ctr"/>
            <a:r>
              <a:rPr sz="1700" b="1">
                <a:solidFill>
                  <a:srgbClr val="1F4E79"/>
                </a:solidFill>
                <a:latin typeface="Arial"/>
              </a:rPr>
              <a:t>No central price file: all 12 [price, stock] vectors arrive directly from HTTP APIs.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09160"/>
            <a:ext cx="7269480" cy="256032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ctr"/>
            <a:r>
              <a:rPr sz="1500" b="1">
                <a:solidFill>
                  <a:srgbClr val="B42828"/>
                </a:solidFill>
                <a:latin typeface="Arial"/>
              </a:rPr>
              <a:t>The two simulated catalogs are labelled synthetic; the services and HTTP calls are live.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Each accepted product becomes one two-dimensional vector after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813816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743200" cy="214884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377440" cy="27432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ctr"/>
            <a:r>
              <a:rPr sz="2100" b="1">
                <a:solidFill>
                  <a:srgbClr val="1F4E79"/>
                </a:solidFill>
                <a:latin typeface="Arial"/>
              </a:rPr>
              <a:t>Product record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2194560" cy="59436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ctr"/>
            <a:r>
              <a:rPr sz="2500" b="0">
                <a:solidFill>
                  <a:srgbClr val="2D2D2D"/>
                </a:solidFill>
                <a:latin typeface="Arial"/>
              </a:rPr>
              <a:t>price = 1,590 THB
stock = 42 units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2057400"/>
            <a:ext cx="502920" cy="36576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ctr"/>
            <a:r>
              <a:rPr sz="3000" b="1">
                <a:solidFill>
                  <a:srgbClr val="2E75B6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25880"/>
            <a:ext cx="3931920" cy="214884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474720" cy="41148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ctr"/>
            <a:r>
              <a:rPr sz="2800" b="1">
                <a:solidFill>
                  <a:srgbClr val="1F4E79"/>
                </a:solidFill>
                <a:latin typeface="Arial"/>
              </a:rPr>
              <a:t>xᵢ = [price, stock]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514600"/>
            <a:ext cx="3200400" cy="50292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ctr"/>
            <a:r>
              <a:rPr sz="1900" b="0">
                <a:solidFill>
                  <a:srgbClr val="2D2D2D"/>
                </a:solidFill>
                <a:latin typeface="Arial"/>
              </a:rPr>
              <a:t>StandardScaler fits once
on the combined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8620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• Source, category, product ID and mock flag are display/provenance fields.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• Stock is inventory, never monthly sales.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• Scaling prevents price units from dominating distance.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K-means learns memberships and k is evaluated on the same snapshot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813816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795527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Arial"/>
              </a:defRPr>
            </a:pPr>
            <a:r>
              <a:t>• Fit StandardScaler once, then KMeans(random_state=42, n_init=10).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Arial"/>
              </a:defRPr>
            </a:pPr>
            <a:r>
              <a:t>• Use fit_predict for labels; groupby only summarizes learned labels afterward.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Arial"/>
              </a:defRPr>
            </a:pPr>
            <a:r>
              <a:t>• Compare k = 2…min(6, n−1, unique vectors) with inertia, silhouette, and membership inspection.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Arial"/>
              </a:defRPr>
            </a:pPr>
            <a:r>
              <a:t>• Cluster IDs are arbitrary labels, not ranks or business recommendations.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886200"/>
            <a:ext cx="7223760" cy="5943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4069080"/>
            <a:ext cx="6949440" cy="22860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Arial"/>
              </a:rPr>
              <a:t>First teaching run: k=3 is pedagogical; three APIs do not determine k=3.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The live cloud run produces learned memberships and centroids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813816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ice-stock-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5623560" cy="34366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63640" y="1325880"/>
            <a:ext cx="2331720" cy="251460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554480"/>
            <a:ext cx="1965960" cy="27432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ctr"/>
            <a:r>
              <a:rPr sz="2000" b="1">
                <a:solidFill>
                  <a:srgbClr val="1F4E79"/>
                </a:solidFill>
                <a:latin typeface="Arial"/>
              </a:rPr>
              <a:t>Demo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965960"/>
            <a:ext cx="1874519" cy="160020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ctr"/>
            <a:r>
              <a:rPr sz="1600" b="0">
                <a:solidFill>
                  <a:srgbClr val="2D2D2D"/>
                </a:solidFill>
                <a:latin typeface="Arial"/>
              </a:rPr>
              <a:t>Mode
LIVE
Matrix
12 × 2
k = 3
Silhouette = 0.587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4114800"/>
            <a:ext cx="2194560" cy="45720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ctr"/>
            <a:r>
              <a:rPr sz="1400" b="1">
                <a:solidFill>
                  <a:srgbClr val="B42828"/>
                </a:solidFill>
                <a:latin typeface="Arial"/>
              </a:rPr>
              <a:t>B/C catalogs are synthetic; HTTP and K-means are live.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The current live run is complete and k=3 is supported by this snapshot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813816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234440"/>
          <a:ext cx="7726679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3339"/>
                <a:gridCol w="3863340"/>
              </a:tblGrid>
              <a:tr h="4038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Evidence</a:t>
                      </a:r>
                    </a:p>
                  </a:txBody>
                  <a:tcPr marL="45720" marR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Observed</a:t>
                      </a:r>
                    </a:p>
                  </a:txBody>
                  <a:tcPr marL="45720" marR="45720">
                    <a:solidFill>
                      <a:srgbClr val="1F4E79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Cloud sources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3 HTTP endpoints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Products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12 (4 + 4 + 4)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Feature matrix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12 × 2 [price, stock]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Rejected rows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k=3 silhouette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0.587 (highest candidate now)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68680" y="3977639"/>
            <a:ext cx="7406640" cy="658368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169663"/>
            <a:ext cx="7132320" cy="22860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ctr"/>
            <a:r>
              <a:rPr sz="2100" b="1">
                <a:solidFill>
                  <a:srgbClr val="1F4E79"/>
                </a:solidFill>
                <a:latin typeface="Arial"/>
              </a:rPr>
              <a:t>Cluster sizes: 3 / 4 / 5 — members cross API boundaries.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498079" cy="256032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ctr"/>
            <a:r>
              <a:rPr sz="1500" b="0">
                <a:solidFill>
                  <a:srgbClr val="6E6E6E"/>
                </a:solidFill>
                <a:latin typeface="Arial"/>
              </a:rPr>
              <a:t>If API data changes, diagnostics and memberships can change; every run keeps its own snapshot.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The live demonstration follows one visible path from JSON to learned labels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813816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82296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724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marL="45720" marR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Action</a:t>
                      </a:r>
                    </a:p>
                  </a:txBody>
                  <a:tcPr marL="45720" marR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Badge</a:t>
                      </a:r>
                    </a:p>
                  </a:txBody>
                  <a:tcPr marL="45720" marR="45720">
                    <a:solidFill>
                      <a:srgbClr val="1F4E79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Open :3067, :3120 and :3121; show 4 rows each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LIVE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Point to price, stock and synthetic provenance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LIVE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Run ./scripts/run_demo.sh --mode live --k 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LIVE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Open report, centroids and candidate-k diagnostics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LIVE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Use archived capture only if network is unavailable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SNAPSHOT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389120"/>
            <a:ext cx="7680960" cy="32004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ctr"/>
            <a:r>
              <a:rPr sz="1900" b="1">
                <a:solidFill>
                  <a:srgbClr val="B42828"/>
                </a:solidFill>
                <a:latin typeface="Arial"/>
              </a:rPr>
              <a:t>No SSH tunnel, database edit or manual category grouping is needed during class.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The small dataset supports a teaching demonstration, not production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813816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955279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rial"/>
              </a:defRPr>
            </a:pPr>
            <a:r>
              <a:t>• Twelve rows are enough to show vectors, scaling, labels, centroids, and k diagnostics.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rial"/>
              </a:defRPr>
            </a:pPr>
            <a:r>
              <a:t>• A cluster does not prove popularity, turnover, urgency, profit, or a reorder policy.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rial"/>
              </a:defRPr>
            </a:pPr>
            <a:r>
              <a:t>• Eight demo B/C rows are visibly synthetic although their cloud APIs are live.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rial"/>
              </a:defRPr>
            </a:pPr>
            <a:r>
              <a:t>• A future text mode should be separate from price/inventory clustering and use documented TF-IDF or embeddings.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The handoff is runnable now with a tested live path and snapshot fallback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813816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795527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rial"/>
              </a:defRPr>
            </a:pPr>
            <a:r>
              <a:t>• Check the three browser URLs; each must return four price/stock records.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rial"/>
              </a:defRPr>
            </a:pPr>
            <a:r>
              <a:t>• Run tests: .venv/bin/python -m unittest discover -s tests -v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rial"/>
              </a:defRPr>
            </a:pPr>
            <a:r>
              <a:t>• Run ./scripts/run_demo.sh --mode live --k 3; use snapshot mode only as fallback.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rial"/>
              </a:defRPr>
            </a:pPr>
            <a:r>
              <a:t>• Review outputs/&lt;run_id&gt;/report.html and speaker notes before teaching.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828800" cy="27432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l"/>
            <a:r>
              <a:rPr sz="2000" b="1">
                <a:solidFill>
                  <a:srgbClr val="2E75B6"/>
                </a:solidFill>
                <a:latin typeface="Arial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77639"/>
            <a:ext cx="7589520" cy="731520"/>
          </a:xfrm>
          <a:prstGeom prst="rect">
            <a:avLst/>
          </a:prstGeom>
          <a:noFill/>
        </p:spPr>
        <p:txBody>
          <a:bodyPr wrap="square" lIns="36576" rIns="36576" tIns="27432" anchor="t">
            <a:spAutoFit/>
          </a:bodyPr>
          <a:lstStyle/>
          <a:p>
            <a:pPr algn="l"/>
            <a:r>
              <a:rPr sz="1500" b="0">
                <a:solidFill>
                  <a:srgbClr val="6E6E6E"/>
                </a:solidFill>
                <a:latin typeface="Arial"/>
              </a:rPr>
              <a:t>scikit-learn KMeans · StandardScaler · silhouette_score
https://scikit-learn.org/stable/
Source data: three cloud HTTP endpoints; demo B/C catalogs are synthetic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